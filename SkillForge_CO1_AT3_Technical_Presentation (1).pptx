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Open by naming the capstone problem and the cloud product objective. Keep the title slide uncluttered and clearly identify the individual presenter.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Do not start with technology. First make the need clear, then connect it to cloud-enabled scale, reach, or reliability.</a:t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Students should explain the concept map as a reasoning artifact, not as decoration.</a:t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Walk from user request to API, compute, data, storage, analytics, monitoring, and security boundary.</a:t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Ask the student to defend provider responsibility and student responsibility for the selected service models.</a:t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Big data analytics is optional, but a thoughtful data path is expected.</a:t>
            </a:r>
            <a:endParaRPr/>
          </a:p>
        </p:txBody>
      </p:sp>
      <p:sp>
        <p:nvSpPr>
          <p:cNvPr id="182" name="Google Shape;18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If AI is not required, students can present a Python automation or analytics module instead.</a:t>
            </a:r>
            <a:endParaRPr/>
          </a:p>
        </p:txBody>
      </p:sp>
      <p:sp>
        <p:nvSpPr>
          <p:cNvPr id="221" name="Google Shape;22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is where students show engineering judgment instead of simply listing services.</a:t>
            </a:r>
            <a:endParaRPr/>
          </a:p>
        </p:txBody>
      </p:sp>
      <p:sp>
        <p:nvSpPr>
          <p:cNvPr id="250" name="Google Shape;25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Evidence should be specific and inspectable, not a generic list of tools.</a:t>
            </a:r>
            <a:endParaRPr/>
          </a:p>
        </p:txBody>
      </p:sp>
      <p:sp>
        <p:nvSpPr>
          <p:cNvPr id="279" name="Google Shape;27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 storyboard helps the faculty see whether the cloud architecture is connected to actual use.</a:t>
            </a:r>
            <a:endParaRPr/>
          </a:p>
        </p:txBody>
      </p:sp>
      <p:sp>
        <p:nvSpPr>
          <p:cNvPr id="308" name="Google Shape;30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Students can use this as the self-check slide before presenting the conclusion.</a:t>
            </a:r>
            <a:endParaRPr/>
          </a:p>
        </p:txBody>
      </p:sp>
      <p:sp>
        <p:nvSpPr>
          <p:cNvPr id="339" name="Google Shape;33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ending should synthesize learning, not just say thank you.</a:t>
            </a:r>
            <a:endParaRPr/>
          </a:p>
        </p:txBody>
      </p:sp>
      <p:sp>
        <p:nvSpPr>
          <p:cNvPr id="374" name="Google Shape;374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01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723900" y="914400"/>
            <a:ext cx="67627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CSA15 Cloud Computing and Big Data Analytics</a:t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23900" y="2152650"/>
            <a:ext cx="6762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2F6690"/>
                </a:solidFill>
                <a:latin typeface="Calibri"/>
                <a:ea typeface="Calibri"/>
                <a:cs typeface="Calibri"/>
                <a:sym typeface="Calibri"/>
              </a:rPr>
              <a:t>Capstone Cloud Technical Presentation</a:t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723900" y="2762250"/>
            <a:ext cx="5905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Individual Student Presentation Deck</a:t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7524750" y="1143000"/>
            <a:ext cx="3714750" cy="314325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7524750" y="1143000"/>
            <a:ext cx="3714750" cy="762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7696200" y="1333500"/>
            <a:ext cx="33718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Presenter Details</a:t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7696200" y="1733550"/>
            <a:ext cx="3371850" cy="241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Student Name: </a:t>
            </a:r>
            <a:r>
              <a:rPr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J Bharath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Register Number: </a:t>
            </a:r>
            <a:r>
              <a:rPr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192511234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Slot: Slot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Capstone Title: SkillForge – CO-Attainment Cloud Tutor Using Recommendation Analytics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Selected SDG Goal(s): SDG 4 – Quality Education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Cloud Platform / Tools: AWS (Lambda, API Gateway, RDS, S3, Cognito, CloudWatch)</a:t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723900" y="3714750"/>
            <a:ext cx="6191250" cy="1181100"/>
          </a:xfrm>
          <a:prstGeom prst="roundRect">
            <a:avLst>
              <a:gd fmla="val 6452" name="adj"/>
            </a:avLst>
          </a:prstGeom>
          <a:solidFill>
            <a:srgbClr val="E8F1F8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723900" y="3714750"/>
            <a:ext cx="6191250" cy="762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895350" y="3905250"/>
            <a:ext cx="58483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Presentation Focus</a:t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895350" y="4305300"/>
            <a:ext cx="5848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Present your capstone as a cloud-backed product. Explain the problem, architecture, service choices, evidence, and CO1 learning clearly.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" name="Google Shape;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02</a:t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Problem Context and Stakeholder Mapping</a:t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Our capstone begins with a real problem to solve</a:t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Students rarely know which specific Course Outcomes (COs) they are weak in, so revision stays generic instead of targeted.</a:t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Target Users</a:t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Students preparing for assessments, and faculty/course coordinators tracking CO attainment across a class.</a:t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cap="flat" cmpd="sng" w="9525">
            <a:solidFill>
              <a:srgbClr val="466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SDG Fit</a:t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SDG 4 – Quality Education: personalized, data-driven remediation improves learning outcomes for every student.</a:t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cap="flat" cmpd="sng" w="9525">
            <a:solidFill>
              <a:srgbClr val="7C95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Product Boundary</a:t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MVP covers one course: CO-tagged quiz ingestion, CO-attainment scoring, and resource recommendations for weak COs.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03</a:t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Cloud Adoption Rationale and Concept Map</a:t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problem needs cloud support to become a usable product</a:t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EEF2F6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723900" y="1600200"/>
            <a:ext cx="4762500" cy="762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895350" y="1751100"/>
            <a:ext cx="4419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Cloud Definition</a:t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895350" y="2016300"/>
            <a:ext cx="44196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For SkillForge, cloud means renting compute, storage and analytics on demand to score CO attainment and serve personalized recommendations instantly, without owning servers.</a:t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723900" y="3238500"/>
            <a:ext cx="4762500" cy="762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895350" y="3429000"/>
            <a:ext cx="4419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Cloud Characteristics</a:t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895350" y="3829050"/>
            <a:ext cx="441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Elasticity, scalability, measured service, resource pooling — auto-scales during exam-week quiz spikes and bills only for compute used.</a:t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6134100" y="1600200"/>
            <a:ext cx="4762500" cy="2895600"/>
          </a:xfrm>
          <a:prstGeom prst="roundRect">
            <a:avLst>
              <a:gd fmla="val 2632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305550" y="1771650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Cloud Concept Map</a:t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305550" y="2190750"/>
            <a:ext cx="44196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Concept map: Student → REST API → CO-Attainment Engine → Recommendation Engine (content-based filtering) → Dashboard, all hosted on elastic AWS services.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04</a:t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Capstone Cloud Architecture</a:t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Our cloud architecture connects the user action to services</a:t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1047750" y="2095500"/>
            <a:ext cx="1809750" cy="80010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1162050" y="2333625"/>
            <a:ext cx="1581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Student Web App (React)</a:t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3476625" y="2095500"/>
            <a:ext cx="1809750" cy="80010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3590925" y="2333625"/>
            <a:ext cx="1581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Cognito Auth + API Gateway</a:t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5905500" y="2095500"/>
            <a:ext cx="1809750" cy="80010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6019800" y="2209800"/>
            <a:ext cx="158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CO-Attainment &amp; Recommendation Services (Lambda)</a:t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8334375" y="2095500"/>
            <a:ext cx="1809750" cy="80010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8448675" y="2333625"/>
            <a:ext cx="1581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RDS (PostgreSQL) + S3</a:t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5905500" y="3714750"/>
            <a:ext cx="1809750" cy="80010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6019800" y="3790950"/>
            <a:ext cx="158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CloudWatch Analytics + Monitoring</a:t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2857500" y="2495550"/>
            <a:ext cx="619125" cy="1905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5286375" y="2495550"/>
            <a:ext cx="619125" cy="1905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7715250" y="2495550"/>
            <a:ext cx="619125" cy="1905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6781800" y="2895600"/>
            <a:ext cx="19050" cy="81915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5905500" y="1733550"/>
            <a:ext cx="1809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Scaling point</a:t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3476625" y="30670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Security boundary</a:t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3286125" y="3333750"/>
            <a:ext cx="7048500" cy="19050"/>
          </a:xfrm>
          <a:prstGeom prst="rect">
            <a:avLst/>
          </a:prstGeom>
          <a:solidFill>
            <a:srgbClr val="B7C9D9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8858250" y="1581150"/>
            <a:ext cx="2381250" cy="3200400"/>
          </a:xfrm>
          <a:prstGeom prst="roundRect">
            <a:avLst>
              <a:gd fmla="val 3200" name="adj"/>
            </a:avLst>
          </a:prstGeom>
          <a:solidFill>
            <a:srgbClr val="EEF2F6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8858250" y="1581150"/>
            <a:ext cx="2381250" cy="762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9029700" y="1771650"/>
            <a:ext cx="20383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Presentation Points</a:t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9029700" y="2171700"/>
            <a:ext cx="203835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Request path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API role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Compute choice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Database and storage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Monitoring and security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Scaling point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7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05</a:t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Cloud Service Model Responsibility Matrix</a:t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Each service model defines what we control and what cloud manages</a:t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723900" y="1809750"/>
            <a:ext cx="1714500" cy="4953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800100" y="1971675"/>
            <a:ext cx="1562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 area</a:t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2438400" y="1809750"/>
            <a:ext cx="1143000" cy="4953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2514600" y="1971675"/>
            <a:ext cx="9906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3581400" y="1809750"/>
            <a:ext cx="2286000" cy="4953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3657600" y="1971675"/>
            <a:ext cx="21336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Provider manages</a:t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5867400" y="1809750"/>
            <a:ext cx="2381250" cy="4953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5943600" y="1971675"/>
            <a:ext cx="22288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 team manages</a:t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8248650" y="1809750"/>
            <a:ext cx="2476500" cy="4953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8324850" y="1971675"/>
            <a:ext cx="2324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this fits</a:t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723900" y="2305050"/>
            <a:ext cx="17145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800100" y="2457450"/>
            <a:ext cx="1562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3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Frontend hosting</a:t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2438400" y="2305050"/>
            <a:ext cx="11430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SaaS/PaaS – static hosting</a:t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3581400" y="2305050"/>
            <a:ext cx="22860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CDN, hosting infra, SSL, edge caching</a:t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5867400" y="2305050"/>
            <a:ext cx="238125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React UI code, build pipeline</a:t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8248650" y="2305050"/>
            <a:ext cx="24765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No server ops for a fast, global student UI</a:t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723900" y="2800350"/>
            <a:ext cx="17145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800100" y="2952750"/>
            <a:ext cx="1562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3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Backend/API</a:t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2438400" y="2800350"/>
            <a:ext cx="11430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PaaS – Serverless (Lambda + API Gateway)</a:t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3581400" y="2800350"/>
            <a:ext cx="22860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Server patching, scaling, load balancing</a:t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5867400" y="2800350"/>
            <a:ext cx="238125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API logic, CO-attainment &amp; recommendation code</a:t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8248650" y="2800350"/>
            <a:ext cx="24765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Pay-per-request suits spiky quiz-submission traffic</a:t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23900" y="3295650"/>
            <a:ext cx="17145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800100" y="3448050"/>
            <a:ext cx="1562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3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2438400" y="3295650"/>
            <a:ext cx="11430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DBaaS – managed RDS (PostgreSQL)</a:t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3581400" y="3295650"/>
            <a:ext cx="22860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Backups, patching, replication, failover</a:t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5867400" y="3295650"/>
            <a:ext cx="238125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Schema design, CO-mapping queries</a:t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8248650" y="3295650"/>
            <a:ext cx="24765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Relational CO data needs consistency, not ops overhead</a:t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723900" y="3790950"/>
            <a:ext cx="17145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800100" y="3943350"/>
            <a:ext cx="1562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3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Storage</a:t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2438400" y="3790950"/>
            <a:ext cx="11430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IaaS – Object storage (Amazon S3)</a:t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3581400" y="3790950"/>
            <a:ext cx="22860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Durability, redundancy, storage scaling</a:t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5867400" y="3790950"/>
            <a:ext cx="238125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Folder structure, access rules</a:t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8248650" y="3790950"/>
            <a:ext cx="24765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Learning resources need cheap, durable storage</a:t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723900" y="4286250"/>
            <a:ext cx="17145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800100" y="4438650"/>
            <a:ext cx="1562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3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Monitoring / logs</a:t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2438400" y="4286250"/>
            <a:ext cx="11430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PaaS – CloudWatch</a:t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3581400" y="4286250"/>
            <a:ext cx="22860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Metrics collection, log storage, alerting</a:t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5867400" y="4286250"/>
            <a:ext cx="238125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Custom dashboards, alert thresholds</a:t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8248650" y="4286250"/>
            <a:ext cx="2476500" cy="476250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Tracks recommendation latency without a monitoring stack</a:t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723900" y="4781550"/>
            <a:ext cx="17145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800100" y="4933950"/>
            <a:ext cx="1562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3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Security / IAM</a:t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2438400" y="4781550"/>
            <a:ext cx="11430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PaaS – Cognito + IAM</a:t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3581400" y="4781550"/>
            <a:ext cx="22860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Identity store, token issuance, MFA infra</a:t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5867400" y="4781550"/>
            <a:ext cx="238125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Role policies, least-privilege rules</a:t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8248650" y="4781550"/>
            <a:ext cx="24765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Protects student CO data with clear access rules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06</a:t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Data Flow and Analytics Pipeline</a:t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product data moves from user activity to useful insight</a:t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1066800" y="1695450"/>
            <a:ext cx="1352550" cy="628650"/>
          </a:xfrm>
          <a:prstGeom prst="roundRect">
            <a:avLst>
              <a:gd fmla="val 12121" name="adj"/>
            </a:avLst>
          </a:prstGeom>
          <a:solidFill>
            <a:srgbClr val="E8F1F8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1200150" y="190500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Collect</a:t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2495550" y="2000250"/>
            <a:ext cx="51435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3048000" y="1695450"/>
            <a:ext cx="1352550" cy="628650"/>
          </a:xfrm>
          <a:prstGeom prst="roundRect">
            <a:avLst>
              <a:gd fmla="val 12121" name="adj"/>
            </a:avLst>
          </a:prstGeom>
          <a:solidFill>
            <a:srgbClr val="EEF2F6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3181350" y="190500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Ingest</a:t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4476750" y="2000250"/>
            <a:ext cx="51435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5029200" y="1695450"/>
            <a:ext cx="1352550" cy="628650"/>
          </a:xfrm>
          <a:prstGeom prst="roundRect">
            <a:avLst>
              <a:gd fmla="val 12121" name="adj"/>
            </a:avLst>
          </a:prstGeom>
          <a:solidFill>
            <a:srgbClr val="E8F1F8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5162550" y="190500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6457950" y="2000250"/>
            <a:ext cx="51435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7010400" y="1695450"/>
            <a:ext cx="1352550" cy="628650"/>
          </a:xfrm>
          <a:prstGeom prst="roundRect">
            <a:avLst>
              <a:gd fmla="val 12121" name="adj"/>
            </a:avLst>
          </a:prstGeom>
          <a:solidFill>
            <a:srgbClr val="EEF2F6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7143750" y="190500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8439150" y="2000250"/>
            <a:ext cx="51435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8991600" y="1695450"/>
            <a:ext cx="1352550" cy="628650"/>
          </a:xfrm>
          <a:prstGeom prst="roundRect">
            <a:avLst>
              <a:gd fmla="val 12121" name="adj"/>
            </a:avLst>
          </a:prstGeom>
          <a:solidFill>
            <a:srgbClr val="E8F1F8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9124950" y="190500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Visualize</a:t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723900" y="3238500"/>
            <a:ext cx="3143250" cy="1200150"/>
          </a:xfrm>
          <a:prstGeom prst="roundRect">
            <a:avLst>
              <a:gd fmla="val 6349" name="adj"/>
            </a:avLst>
          </a:prstGeom>
          <a:solidFill>
            <a:srgbClr val="EEF2F6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723900" y="3238500"/>
            <a:ext cx="3143250" cy="762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895350" y="3429000"/>
            <a:ext cx="28003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Data Requirements</a:t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895350" y="3829050"/>
            <a:ext cx="2800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Quiz scores, CO-question mapping, assignment marks, and learning-portal clickstream.</a:t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4362450" y="3238500"/>
            <a:ext cx="3143250" cy="1200150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4362450" y="3238500"/>
            <a:ext cx="3143250" cy="762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4533900" y="3429000"/>
            <a:ext cx="28003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Analytics Requirement</a:t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4533900" y="3829050"/>
            <a:ext cx="2800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Per-student CO-attainment %, weak-CO detection, and a ranked list of recommended resources.</a:t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8001000" y="3238500"/>
            <a:ext cx="3143250" cy="1200150"/>
          </a:xfrm>
          <a:prstGeom prst="roundRect">
            <a:avLst>
              <a:gd fmla="val 6349" name="adj"/>
            </a:avLst>
          </a:prstGeom>
          <a:solidFill>
            <a:srgbClr val="EEF2F6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8001000" y="3238500"/>
            <a:ext cx="3143250" cy="762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8172450" y="3429000"/>
            <a:ext cx="28003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Proof Required</a:t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8172450" y="3829050"/>
            <a:ext cx="2800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Sample quiz CSV in, CO-attainment dashboard out, with one weak-CO insight flagged for a test student.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9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07</a:t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Python / AI Module Integration</a:t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Python or AI adds intelligence where the product needs it</a:t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Python Role</a:t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Recommendation engine – content-based filtering ranks learning resources per weak CO.</a:t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Input and Output</a:t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In: student CO-wise scores + resource metadata (tags, difficulty). Out: top-5 ranked resources per weak CO.</a:t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cap="flat" cmpd="sng" w="9525">
            <a:solidFill>
              <a:srgbClr val="466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Execution Point</a:t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AWS Lambda function triggered after each quiz submission; nightly batch job re-trains the model.</a:t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cap="flat" cmpd="sng" w="9525">
            <a:solidFill>
              <a:srgbClr val="7C95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Product Value</a:t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Turns a raw score into a specific next step – “watch this, redo this” – instead of a generic percentage.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0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08</a:t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Security, Scalability, Privacy and Cost Design</a:t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Security, scale, privacy and cost shape the final design</a:t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Cognito-based auth, role-based access (student/faculty), input validation at API Gateway, CloudWatch audit trail.</a:t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Privacy</a:t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Marks and PII encrypted at rest (RDS + S3 SSE); anonymized IDs used in analytics and recommendation logs.</a:t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cap="flat" cmpd="sng" w="9525">
            <a:solidFill>
              <a:srgbClr val="466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Stateless Lambda + API Gateway auto-scale per course; RDS read replicas added as more courses onboard.</a:t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cap="flat" cmpd="sng" w="9525">
            <a:solidFill>
              <a:srgbClr val="7C95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Cost Awareness</a:t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AWS free tier for Lambda/API Gateway during pilot; S3 lifecycle rules move old logs to Glacier.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1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09</a:t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Implementation Stack and Deployment Evidence</a:t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Our implementation stack shows how the design will be built</a:t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Mobile / Web Layer</a:t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React web app (student dashboard) with an optional React Native wrapper for mobile access.</a:t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Cloud Services</a:t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AWS Lambda, API Gateway, RDS (PostgreSQL), S3, Cognito, CloudWatch.</a:t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cap="flat" cmpd="sng" w="9525">
            <a:solidFill>
              <a:srgbClr val="466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GitHub repo, deployed API Gateway endpoint, CloudWatch dashboard, sample CO-attainment report.</a:t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cap="flat" cmpd="sng" w="9525">
            <a:solidFill>
              <a:srgbClr val="7C95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Version Control</a:t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Feature-branch workflow (main/dev/feature-*), clear commit history, README with setup and architecture diagram.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2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314" name="Google Shape;314;p12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10</a:t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Demo Storyboard and User Journey</a:t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complete user journey proves the product flow</a:t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723900" y="1581150"/>
            <a:ext cx="3143250" cy="1238250"/>
          </a:xfrm>
          <a:prstGeom prst="roundRect">
            <a:avLst>
              <a:gd fmla="val 6154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895350" y="173355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Scene 1</a:t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895350" y="2095500"/>
            <a:ext cx="2705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63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Student logs in → Cognito authenticates → API Gateway issues a session token</a:t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4362450" y="1581150"/>
            <a:ext cx="3143250" cy="123825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4533900" y="173355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Scene 2</a:t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4533900" y="2095500"/>
            <a:ext cx="2705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63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Student attempts a CO-tagged quiz → Lambda scores answers → RDS stores CO-wise marks</a:t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8001000" y="1581150"/>
            <a:ext cx="3143250" cy="1238250"/>
          </a:xfrm>
          <a:prstGeom prst="roundRect">
            <a:avLst>
              <a:gd fmla="val 6154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8172450" y="173355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Scene 3</a:t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8172450" y="2095500"/>
            <a:ext cx="2705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63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Attainment engine runs → Lambda computes CO-attainment % → flags weak COs</a:t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723900" y="3314700"/>
            <a:ext cx="3143250" cy="123825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895350" y="34671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Scene 4</a:t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895350" y="3829050"/>
            <a:ext cx="2705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63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Recommendation engine runs → Lambda ranks resources → reads resource metadata from S3</a:t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4362450" y="3314700"/>
            <a:ext cx="3143250" cy="1238250"/>
          </a:xfrm>
          <a:prstGeom prst="roundRect">
            <a:avLst>
              <a:gd fmla="val 6154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4533900" y="34671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Scene 5</a:t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4533900" y="3829050"/>
            <a:ext cx="2705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63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Dashboard loads → API Gateway returns recommendations → React renders weak-CO cards</a:t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8001000" y="3314700"/>
            <a:ext cx="3143250" cy="123825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8172450" y="34671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Scene 6</a:t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8172450" y="3829050"/>
            <a:ext cx="2705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63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Faculty views class report → Lambda aggregates class CO data → CloudWatch logs the request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3" name="Google Shape;3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3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11</a:t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Evaluation Readiness Checklist</a:t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Our evidence confirms that the presentation is ready</a:t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952500" y="1619250"/>
            <a:ext cx="4762500" cy="742950"/>
          </a:xfrm>
          <a:prstGeom prst="roundRect">
            <a:avLst>
              <a:gd fmla="val 10256" name="adj"/>
            </a:avLst>
          </a:prstGeom>
          <a:solidFill>
            <a:srgbClr val="EEF2F6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1143000" y="1847850"/>
            <a:ext cx="285750" cy="28575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1581150" y="17907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Cloud ecosystem and service model explained</a:t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952500" y="2686050"/>
            <a:ext cx="4762500" cy="74295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1143000" y="2914650"/>
            <a:ext cx="285750" cy="28575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1581150" y="28575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REST/SOAP/API role connected to capstone</a:t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952500" y="3752850"/>
            <a:ext cx="4762500" cy="742950"/>
          </a:xfrm>
          <a:prstGeom prst="roundRect">
            <a:avLst>
              <a:gd fmla="val 10256" name="adj"/>
            </a:avLst>
          </a:prstGeom>
          <a:solidFill>
            <a:srgbClr val="EEF2F6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1143000" y="3981450"/>
            <a:ext cx="285750" cy="28575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1581150" y="39243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Architecture has compute, data, storage, security, monitoring</a:t>
            </a: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6572250" y="1619250"/>
            <a:ext cx="4762500" cy="74295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6762750" y="1847850"/>
            <a:ext cx="285750" cy="28575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7200900" y="17907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Elasticity and scalability decisions are visible</a:t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6572250" y="2686050"/>
            <a:ext cx="4762500" cy="742950"/>
          </a:xfrm>
          <a:prstGeom prst="roundRect">
            <a:avLst>
              <a:gd fmla="val 10256" name="adj"/>
            </a:avLst>
          </a:prstGeom>
          <a:solidFill>
            <a:srgbClr val="EEF2F6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6762750" y="2914650"/>
            <a:ext cx="285750" cy="28575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7200900" y="28575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GitHub and cloud evidence are inspectable</a:t>
            </a: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6572250" y="3752850"/>
            <a:ext cx="4762500" cy="74295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6762750" y="3981450"/>
            <a:ext cx="285750" cy="28575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7200900" y="39243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References and integrity statement are included</a:t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2095500" y="4953000"/>
            <a:ext cx="8001000" cy="704850"/>
          </a:xfrm>
          <a:prstGeom prst="roundRect">
            <a:avLst>
              <a:gd fmla="val 10811" name="adj"/>
            </a:avLst>
          </a:prstGeom>
          <a:solidFill>
            <a:srgbClr val="E8F1F8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2095500" y="4953000"/>
            <a:ext cx="8001000" cy="762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3"/>
          <p:cNvSpPr/>
          <p:nvPr/>
        </p:nvSpPr>
        <p:spPr>
          <a:xfrm>
            <a:off x="2266950" y="5143500"/>
            <a:ext cx="765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Evaluator Focus</a:t>
            </a:r>
            <a:endParaRPr/>
          </a:p>
        </p:txBody>
      </p:sp>
      <p:sp>
        <p:nvSpPr>
          <p:cNvPr id="370" name="Google Shape;370;p13"/>
          <p:cNvSpPr/>
          <p:nvPr/>
        </p:nvSpPr>
        <p:spPr>
          <a:xfrm flipH="1" rot="10800000">
            <a:off x="2266950" y="5524500"/>
            <a:ext cx="7658100" cy="19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CO1 is verified through cloud design reasoning, service choices, evidence, and individual explanation.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8" name="Google Shape;37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4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12</a:t>
            </a:r>
            <a:endParaRPr/>
          </a:p>
        </p:txBody>
      </p:sp>
      <p:sp>
        <p:nvSpPr>
          <p:cNvPr id="381" name="Google Shape;381;p14"/>
          <p:cNvSpPr/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Conclusion, Limitations and Future Scope</a:t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We close with learning, limitations and next steps</a:t>
            </a:r>
            <a:endParaRPr/>
          </a:p>
        </p:txBody>
      </p:sp>
      <p:sp>
        <p:nvSpPr>
          <p:cNvPr id="383" name="Google Shape;383;p14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4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4"/>
          <p:cNvSpPr/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Learning Outcome</a:t>
            </a:r>
            <a:endParaRPr/>
          </a:p>
        </p:txBody>
      </p:sp>
      <p:sp>
        <p:nvSpPr>
          <p:cNvPr id="387" name="Google Shape;387;p14"/>
          <p:cNvSpPr/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How elasticity, managed services, and serverless compute let a small student project mimic production-grade ed-tech infrastructure.</a:t>
            </a: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4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cap="flat" cmpd="sng" w="9525">
            <a:solidFill>
              <a:srgbClr val="2F66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4"/>
          <p:cNvSpPr/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/>
          </a:p>
        </p:txBody>
      </p:sp>
      <p:sp>
        <p:nvSpPr>
          <p:cNvPr id="391" name="Google Shape;391;p14"/>
          <p:cNvSpPr/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Recommendation model is content-based only (no collaborative signal yet); tested on a single course's data so far.</a:t>
            </a: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6F8FB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4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cap="flat" cmpd="sng" w="9525">
            <a:solidFill>
              <a:srgbClr val="466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Future Improvement</a:t>
            </a:r>
            <a:endParaRPr/>
          </a:p>
        </p:txBody>
      </p:sp>
      <p:sp>
        <p:nvSpPr>
          <p:cNvPr id="395" name="Google Shape;395;p14"/>
          <p:cNvSpPr/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Add collaborative filtering across courses, real-time alerts, and a faculty-facing analytics dashboard.</a:t>
            </a: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B7C9D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cap="flat" cmpd="sng" w="9525">
            <a:solidFill>
              <a:srgbClr val="7C95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"/>
          <p:cNvSpPr/>
          <p:nvPr/>
        </p:nvSpPr>
        <p:spPr>
          <a:xfrm>
            <a:off x="6279875" y="333375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Integrity Statement</a:t>
            </a:r>
            <a:endParaRPr/>
          </a:p>
        </p:txBody>
      </p:sp>
      <p:sp>
        <p:nvSpPr>
          <p:cNvPr id="399" name="Google Shape;399;p14"/>
          <p:cNvSpPr/>
          <p:nvPr/>
        </p:nvSpPr>
        <p:spPr>
          <a:xfrm>
            <a:off x="6362700" y="36385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Built using AWS documentation and open-source libraries (scikit-learn, React); AI assistance used for code scaffolding and this presentation, with all architecture decisions reviewed and owned by the student.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